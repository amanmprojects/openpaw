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gBlWppgptvX2/HwF3IE4LIKRW5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38E5EDC-71DD-4107-AF79-DEA14C71610E}">
  <a:tblStyle styleId="{A38E5EDC-71DD-4107-AF79-DEA14C71610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0.png"/><Relationship Id="rId6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016752" y="0"/>
            <a:ext cx="45720" cy="51435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03720" y="822960"/>
            <a:ext cx="1371600" cy="1371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457200" y="868680"/>
            <a:ext cx="2194560" cy="292608"/>
          </a:xfrm>
          <a:prstGeom prst="rect">
            <a:avLst/>
          </a:prstGeom>
          <a:solidFill>
            <a:srgbClr val="00C9A7">
              <a:alpha val="2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868680"/>
            <a:ext cx="21945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Mini Project · AI &amp; DS · VCET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1261872"/>
            <a:ext cx="53949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Calibri"/>
              <a:buNone/>
            </a:pPr>
            <a:r>
              <a:rPr b="1" i="0" lang="en-US" sz="5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OpenPaw</a:t>
            </a:r>
            <a:endParaRPr b="0" i="0" sz="5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457200" y="2212848"/>
            <a:ext cx="53949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 Self-Hosted, Proactive AI Agent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That Lives in Your Chat Apps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457200" y="3246120"/>
            <a:ext cx="1261872" cy="420624"/>
          </a:xfrm>
          <a:prstGeom prst="rect">
            <a:avLst/>
          </a:prstGeom>
          <a:solidFill>
            <a:srgbClr val="00C9A7">
              <a:alpha val="20000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457200" y="3246120"/>
            <a:ext cx="12618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Remembers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1847088" y="3246120"/>
            <a:ext cx="1261872" cy="420624"/>
          </a:xfrm>
          <a:prstGeom prst="rect">
            <a:avLst/>
          </a:prstGeom>
          <a:solidFill>
            <a:srgbClr val="7C3AED">
              <a:alpha val="20000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1847088" y="3246120"/>
            <a:ext cx="12618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Reaches out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3236976" y="3246120"/>
            <a:ext cx="1261872" cy="420624"/>
          </a:xfrm>
          <a:prstGeom prst="rect">
            <a:avLst/>
          </a:prstGeom>
          <a:solidFill>
            <a:srgbClr val="F97316">
              <a:alpha val="20000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236976" y="3246120"/>
            <a:ext cx="12618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Does things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626864" y="3246120"/>
            <a:ext cx="1261872" cy="420624"/>
          </a:xfrm>
          <a:prstGeom prst="rect">
            <a:avLst/>
          </a:prstGeom>
          <a:solidFill>
            <a:srgbClr val="3B82F6">
              <a:alpha val="20000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4626864" y="3246120"/>
            <a:ext cx="1261872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Meets you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6172200" y="23774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University of Mumbai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6172200" y="26974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="1" i="0" lang="en-US" sz="12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.E. AI &amp; Data Science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Google Shape;34;p1"/>
          <p:cNvCxnSpPr/>
          <p:nvPr/>
        </p:nvCxnSpPr>
        <p:spPr>
          <a:xfrm>
            <a:off x="6492240" y="3090672"/>
            <a:ext cx="2194560" cy="0"/>
          </a:xfrm>
          <a:prstGeom prst="straightConnector1">
            <a:avLst/>
          </a:prstGeom>
          <a:noFill/>
          <a:ln cap="flat" cmpd="sng" w="9525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" name="Google Shape;35;p1"/>
          <p:cNvSpPr/>
          <p:nvPr/>
        </p:nvSpPr>
        <p:spPr>
          <a:xfrm>
            <a:off x="6172200" y="320040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Submitted by: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172200" y="349300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Sharvari Bhondekar -07</a:t>
            </a: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Shruti Gauchandra - 15</a:t>
            </a:r>
            <a:b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Aman Mehtar - 27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172200" y="411480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Guide: </a:t>
            </a:r>
            <a:r>
              <a:rPr lang="en-US" sz="10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Dr. Tatwadarshi Nagarhalli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0" y="4882896"/>
            <a:ext cx="9144000" cy="260604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274320" y="4892040"/>
            <a:ext cx="8595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Self-hosted  ·  WhatsApp / Telegram  ·  Persistent Memory  ·  Proactive Agent  ·  Open Source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457200" y="164592"/>
            <a:ext cx="1229868" cy="27432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457200" y="164592"/>
            <a:ext cx="12298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Every AI today is a dead-end conversation.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114300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You open ChatGPT. You type. You close the tab. Tomorrow it has no idea who you 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1664208"/>
            <a:ext cx="41605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65760" y="1664208"/>
            <a:ext cx="59436" cy="14630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18105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2"/>
          <p:cNvSpPr/>
          <p:nvPr/>
        </p:nvSpPr>
        <p:spPr>
          <a:xfrm>
            <a:off x="914400" y="1755648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No 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30352" y="21214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Every conversation starts fresh. It has no idea who you are or what you discussed last week.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4709160" y="1664208"/>
            <a:ext cx="41605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4709160" y="1664208"/>
            <a:ext cx="59436" cy="14630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3752" y="181051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2"/>
          <p:cNvSpPr/>
          <p:nvPr/>
        </p:nvSpPr>
        <p:spPr>
          <a:xfrm>
            <a:off x="5257800" y="1755648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Waits for you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873752" y="212140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 can't send you a message, alert you to a deadline, or reach out first — ever.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365760" y="3310128"/>
            <a:ext cx="41605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365760" y="3310128"/>
            <a:ext cx="59436" cy="14630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" y="34564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/>
          <p:nvPr/>
        </p:nvSpPr>
        <p:spPr>
          <a:xfrm>
            <a:off x="914400" y="3401568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Can't do anything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530352" y="376732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It generates text. It can't send emails, manage files, or run scripts on your behalf.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4709160" y="3310128"/>
            <a:ext cx="4160520" cy="14630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2E4EA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4709160" y="3310128"/>
            <a:ext cx="59436" cy="14630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8" name="Google Shape;6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73752" y="3456432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"/>
          <p:cNvSpPr/>
          <p:nvPr/>
        </p:nvSpPr>
        <p:spPr>
          <a:xfrm>
            <a:off x="5257800" y="3401568"/>
            <a:ext cx="3474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Wrong place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4873752" y="3767328"/>
            <a:ext cx="3840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People live in WhatsApp and Telegram — not browser tabs with yet another app to install.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172A"/>
          </a:solidFill>
          <a:ln cap="flat" cmpd="sng" w="12700">
            <a:solidFill>
              <a:srgbClr val="0F1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365760" y="4818888"/>
            <a:ext cx="8412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No product on the market Remembers + Reaches out first + Does real work + Meets you where you are. That's what OpenPaw is.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57200" y="164592"/>
            <a:ext cx="1737360" cy="27432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457200" y="1645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IT 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a chatbot. A persistent, autonomous agent.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1261872"/>
            <a:ext cx="8229600" cy="658368"/>
          </a:xfrm>
          <a:prstGeom prst="rect">
            <a:avLst/>
          </a:prstGeom>
          <a:solidFill>
            <a:srgbClr val="00C9A7">
              <a:alpha val="12156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548640" y="1298448"/>
            <a:ext cx="80467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Your personal AI assistant, running locally, talking to you over WhatsApp / Telegram,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remembering everything, and doing real work — not just generating text.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02336" y="2084832"/>
            <a:ext cx="1938528" cy="26334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402336" y="2084832"/>
            <a:ext cx="1938528" cy="7315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68" y="228600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493776" y="290779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Messaging Gateway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512064" y="3383280"/>
            <a:ext cx="17190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WhatsApp · Telegram · Discord. Same agent, same memory across all platforms.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2487168" y="2084832"/>
            <a:ext cx="1938528" cy="26334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2487168" y="2084832"/>
            <a:ext cx="1938528" cy="73152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2" name="Google Shape;9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00400" y="228600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"/>
          <p:cNvSpPr/>
          <p:nvPr/>
        </p:nvSpPr>
        <p:spPr>
          <a:xfrm>
            <a:off x="2578608" y="290779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Agent Engine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596896" y="3383280"/>
            <a:ext cx="17190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Claude · GPT · Gemini · Ollama. Model-agnostic. Auto-failover on rate limit.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572000" y="2084832"/>
            <a:ext cx="1938528" cy="26334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4572000" y="2084832"/>
            <a:ext cx="1938528" cy="73152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85232" y="228600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"/>
          <p:cNvSpPr/>
          <p:nvPr/>
        </p:nvSpPr>
        <p:spPr>
          <a:xfrm>
            <a:off x="4663440" y="290779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Memory System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681728" y="3383280"/>
            <a:ext cx="17190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Markdown diary + SQLite vector DB. Semantic search. 100% local. No cloud.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6656832" y="2084832"/>
            <a:ext cx="1938528" cy="26334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6656832" y="2084832"/>
            <a:ext cx="1938528" cy="7315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70064" y="2286000"/>
            <a:ext cx="512064" cy="51206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"/>
          <p:cNvSpPr/>
          <p:nvPr/>
        </p:nvSpPr>
        <p:spPr>
          <a:xfrm>
            <a:off x="6748272" y="2907792"/>
            <a:ext cx="1755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Heartbeat Scheduler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6766560" y="3383280"/>
            <a:ext cx="171907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Cron-based proactive agent. Checks things every 30 min. Reaches out to you first.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457200" y="164592"/>
            <a:ext cx="1316736" cy="27432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457200" y="164592"/>
            <a:ext cx="13167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457200" y="548640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3200400" y="1207008"/>
            <a:ext cx="2743200" cy="566928"/>
          </a:xfrm>
          <a:prstGeom prst="rect">
            <a:avLst/>
          </a:prstGeom>
          <a:solidFill>
            <a:srgbClr val="7C3AED">
              <a:alpha val="85098"/>
            </a:srgbClr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3200400" y="1207008"/>
            <a:ext cx="2743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Phone  —  WhatsApp / Telegram / Discord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7" name="Google Shape;117;p4"/>
          <p:cNvCxnSpPr/>
          <p:nvPr/>
        </p:nvCxnSpPr>
        <p:spPr>
          <a:xfrm>
            <a:off x="4572000" y="1783080"/>
            <a:ext cx="0" cy="292608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2743200" y="2084832"/>
            <a:ext cx="3657600" cy="566928"/>
          </a:xfrm>
          <a:prstGeom prst="rect">
            <a:avLst/>
          </a:prstGeom>
          <a:solidFill>
            <a:srgbClr val="3B82F6">
              <a:alpha val="85098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2743200" y="2084832"/>
            <a:ext cx="3657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Messaging Gateway  —  bidirectional routing, media, voice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" name="Google Shape;120;p4"/>
          <p:cNvCxnSpPr/>
          <p:nvPr/>
        </p:nvCxnSpPr>
        <p:spPr>
          <a:xfrm>
            <a:off x="4572000" y="2660904"/>
            <a:ext cx="0" cy="274320"/>
          </a:xfrm>
          <a:prstGeom prst="straightConnector1">
            <a:avLst/>
          </a:prstGeom>
          <a:noFill/>
          <a:ln cap="flat" cmpd="sng" w="19050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" name="Google Shape;121;p4"/>
          <p:cNvSpPr/>
          <p:nvPr/>
        </p:nvSpPr>
        <p:spPr>
          <a:xfrm>
            <a:off x="2286000" y="2944368"/>
            <a:ext cx="4572000" cy="658368"/>
          </a:xfrm>
          <a:prstGeom prst="rect">
            <a:avLst/>
          </a:prstGeom>
          <a:solidFill>
            <a:srgbClr val="00C9A7">
              <a:alpha val="85098"/>
            </a:srgbClr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2286000" y="2944368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Agent Engine  —  context assembly  &gt;  LLM call  &gt;  tool execution  (loops up to 15x)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" name="Google Shape;123;p4"/>
          <p:cNvCxnSpPr/>
          <p:nvPr/>
        </p:nvCxnSpPr>
        <p:spPr>
          <a:xfrm>
            <a:off x="1371600" y="361188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4" name="Google Shape;124;p4"/>
          <p:cNvSpPr/>
          <p:nvPr/>
        </p:nvSpPr>
        <p:spPr>
          <a:xfrm>
            <a:off x="365760" y="3858768"/>
            <a:ext cx="2011680" cy="1143000"/>
          </a:xfrm>
          <a:prstGeom prst="rect">
            <a:avLst/>
          </a:prstGeom>
          <a:solidFill>
            <a:srgbClr val="F59E0B">
              <a:alpha val="14901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365760" y="3950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Memory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457200" y="433425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Markdown diary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SQLite vector DB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4434840" y="361188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3429000" y="3858768"/>
            <a:ext cx="2011680" cy="1143000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429000" y="3950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Skills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520440" y="433425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Modular plugins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Sandboxed execution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7498080" y="3611880"/>
            <a:ext cx="0" cy="24688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/>
          <p:nvPr/>
        </p:nvSpPr>
        <p:spPr>
          <a:xfrm>
            <a:off x="6492240" y="3858768"/>
            <a:ext cx="2011680" cy="1143000"/>
          </a:xfrm>
          <a:prstGeom prst="rect">
            <a:avLst/>
          </a:prstGeom>
          <a:solidFill>
            <a:srgbClr val="22C55E">
              <a:alpha val="14901"/>
            </a:srgbClr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492240" y="395020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Heartbeat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583680" y="4334256"/>
            <a:ext cx="1828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Cron scheduler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Proactive outreach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" y="164592"/>
            <a:ext cx="2286000" cy="2743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457200" y="1645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 OPENCLAW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7200" y="566928"/>
            <a:ext cx="822960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gaps in OpenClaw. 7 reasons OpenPaw exists.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OpenClaw proved the concept. We studied its architecture, community and documented failures, and built the answers.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60" y="1600200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365760" y="1600200"/>
            <a:ext cx="59436" cy="59436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502920" y="1600200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960120" y="1709928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Sandboxed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365760" y="2350008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365760" y="2350008"/>
            <a:ext cx="59436" cy="59436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502920" y="2350008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960120" y="2459736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3099816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365760" y="3099816"/>
            <a:ext cx="59436" cy="59436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502920" y="3099816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960120" y="320954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Memory hygiene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365760" y="3849624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365760" y="3849624"/>
            <a:ext cx="59436" cy="59436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02920" y="3849624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960120" y="3959352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India-first pack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709160" y="1600200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5"/>
          <p:cNvSpPr/>
          <p:nvPr/>
        </p:nvSpPr>
        <p:spPr>
          <a:xfrm>
            <a:off x="4709160" y="1600200"/>
            <a:ext cx="59436" cy="59436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4846320" y="1600200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5303520" y="1709928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Action approval flow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709160" y="2350008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709160" y="2350008"/>
            <a:ext cx="59436" cy="59436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4846320" y="2350008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303520" y="2459736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Token budget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4709160" y="3099816"/>
            <a:ext cx="4069080" cy="59436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709160" y="3099816"/>
            <a:ext cx="59436" cy="59436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4846320" y="3099816"/>
            <a:ext cx="347472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303520" y="3209544"/>
            <a:ext cx="3337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Academic heartbeat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57200" y="164592"/>
            <a:ext cx="1577340" cy="27432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57200" y="164592"/>
            <a:ext cx="15773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UNIQUE FEATURES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What OpenPaw ships that OpenClaw doesn't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320040" y="1170432"/>
            <a:ext cx="4224528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320040" y="1170432"/>
            <a:ext cx="54864" cy="91440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48056" y="137160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448056" y="13716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86968" y="122529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Sandboxed skill execution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86968" y="153619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Isolated subprocess per skill with a permission manifest. Static scanner checks for exfiltration before install. Cisco confirmed this flaw in OpenClaw.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320040" y="2176272"/>
            <a:ext cx="4224528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320040" y="2176272"/>
            <a:ext cx="54864" cy="9144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6"/>
          <p:cNvSpPr/>
          <p:nvPr/>
        </p:nvSpPr>
        <p:spPr>
          <a:xfrm>
            <a:off x="448056" y="237744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448056" y="237744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886968" y="223113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Web dashboard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886968" y="254203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Next.js UI — configure the agent, browse skills, view memory and token cost without touching a terminal. Opens OpenPaw to non-developers.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320040" y="3182112"/>
            <a:ext cx="4224528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320040" y="3182112"/>
            <a:ext cx="54864" cy="91440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448056" y="338328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448056" y="338328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886968" y="323697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Memory hygiene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886968" y="354787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Auto-pruning by recency + relevance. Scheduled cleanup. Conflict detection when new info contradicts old memories. Unshipped anywhere in the ecosystem.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320040" y="4187952"/>
            <a:ext cx="4224528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320040" y="4187952"/>
            <a:ext cx="54864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48056" y="438912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48056" y="43891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886968" y="4242816"/>
            <a:ext cx="3566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India-first skill pack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886968" y="4553712"/>
            <a:ext cx="35661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UPI/PhonePe parsing, DIGILOCKER access, Moodle LMS tracking, bilingual Hindi-English. These skills don't exist in ClawHub.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754880" y="1673352"/>
            <a:ext cx="40690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754880" y="1673352"/>
            <a:ext cx="54864" cy="91440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4882896" y="187452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882896" y="187452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321808" y="172821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Action approval flow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321808" y="2039112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OpenPaw asks before any sensitive action — email, delete, shell command. The MoltMatch incident shows why OpenClaw's lack of this gate is dangerous.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4754880" y="2679192"/>
            <a:ext cx="40690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754880" y="2679192"/>
            <a:ext cx="54864" cy="91440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882896" y="288036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882896" y="288036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5321808" y="273405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Token budget + local fallback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321808" y="3044952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Per-day caps with WhatsApp spend alerts. Auto-failover to Ollama when budget is hit. Critical for students on free-tier API keys.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754880" y="3685032"/>
            <a:ext cx="406908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754880" y="3685032"/>
            <a:ext cx="54864" cy="91440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4882896" y="3886200"/>
            <a:ext cx="310896" cy="31089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882896" y="3886200"/>
            <a:ext cx="310896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5321808" y="3739896"/>
            <a:ext cx="3383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Academic heartbeat mode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5321808" y="4050792"/>
            <a:ext cx="338328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Syncs with university academic calendar. Monday 8am: '3 assignments due, 2 practicals Thursday, GATE in 47 days.' OpenClaw's heartbeat is generic.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457200" y="164592"/>
            <a:ext cx="2560320" cy="27432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457200" y="164592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CONFIG &amp; SKILLS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Everything is a Markdown file.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No databases to manage. No admin panels. Version-control your entire agent with Git.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60" y="1536192"/>
            <a:ext cx="393192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502920" y="1554480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SOUL.md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783080" y="1554480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Core personality &amp; rules — "be direct, have opinions, respect privacy"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365760" y="2048256"/>
            <a:ext cx="393192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02920" y="2066544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IDENTITY.md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1783080" y="2066544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Name, vibe, emoji, avatar — who the agent presents 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65760" y="2560320"/>
            <a:ext cx="393192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02920" y="2578608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USER.md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1783080" y="2578608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Your profile — timezone, context, preferences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365760" y="3072384"/>
            <a:ext cx="393192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502920" y="3090672"/>
            <a:ext cx="11887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50"/>
              <a:buFont typeface="Consolas"/>
              <a:buNone/>
            </a:pPr>
            <a:r>
              <a:rPr b="1" i="0" lang="en-US" sz="1150" u="none" cap="none" strike="noStrike">
                <a:solidFill>
                  <a:srgbClr val="F59E0B"/>
                </a:solidFill>
                <a:latin typeface="Consolas"/>
                <a:ea typeface="Consolas"/>
                <a:cs typeface="Consolas"/>
                <a:sym typeface="Consolas"/>
              </a:rPr>
              <a:t>HEARTBEAT.md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1783080" y="3090672"/>
            <a:ext cx="242316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Proactive tasks — what to check and when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4572000" y="1481328"/>
            <a:ext cx="42062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Built-in Skills (MVP)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572000" y="1920240"/>
            <a:ext cx="420624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4681728" y="2029968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4983480" y="1956816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Web Search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675120" y="1956816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Real-time info retrieval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572000" y="2450592"/>
            <a:ext cx="420624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4681728" y="2560320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4983480" y="2487168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PDF Summarizer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675120" y="2487168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50-page doc → key points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572000" y="2980944"/>
            <a:ext cx="420624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681728" y="3090672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4983480" y="3017520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 Triage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675120" y="301752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Scan, categorize, draft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572000" y="3511296"/>
            <a:ext cx="420624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4681728" y="3621024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4983480" y="3547872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File Manager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675120" y="3547872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Read / write / organize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4572000" y="4041648"/>
            <a:ext cx="4206240" cy="43891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4681728" y="4151376"/>
            <a:ext cx="219456" cy="219456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4983480" y="4078224"/>
            <a:ext cx="1645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Browser Control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675120" y="4078224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Navigate, fill forms via CDP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365760" y="4663440"/>
            <a:ext cx="8412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Anyone can write a new skill in Markdown — no SDK, no API, no compilation step.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A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8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457200" y="164592"/>
            <a:ext cx="1056132" cy="274320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57200" y="164592"/>
            <a:ext cx="10561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USE CASES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Real workflows. Real people.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20040" y="1188720"/>
            <a:ext cx="2697480" cy="548640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82" name="Google Shape;28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280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8"/>
          <p:cNvSpPr/>
          <p:nvPr/>
        </p:nvSpPr>
        <p:spPr>
          <a:xfrm>
            <a:off x="886968" y="1188720"/>
            <a:ext cx="2039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students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20040" y="1883664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320040" y="1883664"/>
            <a:ext cx="50292" cy="9692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57200" y="1975104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"Remind me about assignments" → checks LMS, WhatsApp summary every Monday 8am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20040" y="2944368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20040" y="2944368"/>
            <a:ext cx="50292" cy="9692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457200" y="3035808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Drop 50-page paper in chat → 2-page summary + key arguments + flashcard Q&amp;A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20040" y="4005072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320040" y="4005072"/>
            <a:ext cx="50292" cy="969264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"/>
          <p:cNvSpPr/>
          <p:nvPr/>
        </p:nvSpPr>
        <p:spPr>
          <a:xfrm>
            <a:off x="457200" y="4096512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"What did prof say about viva format?" → searches memory from 3 weeks ago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145536" y="1188720"/>
            <a:ext cx="2697480" cy="5486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4" name="Google Shape;29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2696" y="1280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8"/>
          <p:cNvSpPr/>
          <p:nvPr/>
        </p:nvSpPr>
        <p:spPr>
          <a:xfrm>
            <a:off x="3712464" y="1188720"/>
            <a:ext cx="2039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developers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3145536" y="1883664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3145536" y="1883664"/>
            <a:ext cx="50292" cy="9692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3282696" y="1975104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"Staging server CPU at 95%" → runs diagnostics, sends Telegram report, suggests fixes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145536" y="2944368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8"/>
          <p:cNvSpPr/>
          <p:nvPr/>
        </p:nvSpPr>
        <p:spPr>
          <a:xfrm>
            <a:off x="3145536" y="2944368"/>
            <a:ext cx="50292" cy="9692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3282696" y="3035808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"Deploy latest commit" → runs script, monitors errors, reports 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3145536" y="4005072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3145536" y="4005072"/>
            <a:ext cx="50292" cy="969264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3282696" y="4096512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"Summarize GitHub issues this week" → queries API, compiles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971032" y="1188720"/>
            <a:ext cx="2697480" cy="5486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06" name="Google Shape;30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8192" y="1280160"/>
            <a:ext cx="347472" cy="347472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8"/>
          <p:cNvSpPr/>
          <p:nvPr/>
        </p:nvSpPr>
        <p:spPr>
          <a:xfrm>
            <a:off x="6537960" y="1188720"/>
            <a:ext cx="20391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anyone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971032" y="1883664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5971032" y="1883664"/>
            <a:ext cx="50292" cy="9692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6108192" y="1975104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Morning briefing: weather + calendar + email highlights → WhatsApp at 8am, no prompt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971032" y="2944368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8"/>
          <p:cNvSpPr/>
          <p:nvPr/>
        </p:nvSpPr>
        <p:spPr>
          <a:xfrm>
            <a:off x="5971032" y="2944368"/>
            <a:ext cx="50292" cy="9692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6108192" y="3035808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"Track this Amazon product, alert me below ₹X" → monitors and notifies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971032" y="4005072"/>
            <a:ext cx="2697480" cy="969264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5971032" y="4005072"/>
            <a:ext cx="50292" cy="9692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6108192" y="4096512"/>
            <a:ext cx="2496312" cy="7863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"Draft reply to Sharma ji's email" → finds it, drafts, sends for your approval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9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457200" y="164592"/>
            <a:ext cx="2286000" cy="2743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457200" y="16459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 &amp; FEASIBILITY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57200" y="566928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infrastructure cost: zero.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457200" y="107899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Runs on a laptop, Raspberry Pi, or ₹0 cloud VM with student GCP/Azure credits.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8" name="Google Shape;328;p9"/>
          <p:cNvGraphicFramePr/>
          <p:nvPr/>
        </p:nvGraphicFramePr>
        <p:xfrm>
          <a:off x="36576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{A38E5EDC-71DD-4107-AF79-DEA14C71610E}</a:tableStyleId>
              </a:tblPr>
              <a:tblGrid>
                <a:gridCol w="1371600"/>
                <a:gridCol w="2377450"/>
                <a:gridCol w="4663450"/>
              </a:tblGrid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9A7"/>
                          </a:solidFill>
                        </a:rPr>
                        <a:t>Component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9A7"/>
                          </a:solidFill>
                        </a:rPr>
                        <a:t>Technology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00C9A7"/>
                          </a:solidFill>
                        </a:rPr>
                        <a:t>Why</a:t>
                      </a:r>
                      <a:endParaRPr sz="11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2E8F0"/>
                          </a:solidFill>
                        </a:rPr>
                        <a:t>Gateway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Node.js + Baileys + grammY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Real-time WebSocket messaging, mature WhatsApp + Telegram libs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2E8F0"/>
                          </a:solidFill>
                        </a:rPr>
                        <a:t>Agent Engine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Python + LiteLLM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Unified API across 100+ LLM providers, failover, cost tracking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E30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2E8F0"/>
                          </a:solidFill>
                        </a:rPr>
                        <a:t>Memory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SQLite + sentence-transformers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Lightweight, zero-config, local vector search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2E8F0"/>
                          </a:solidFill>
                        </a:rPr>
                        <a:t>Dashboard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Next.js + Tailwind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E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Fast to build, SSR, clean modern UI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1E30"/>
                    </a:solidFill>
                  </a:tcPr>
                </a:tc>
              </a:tr>
              <a:tr h="133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2E8F0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E2E8F0"/>
                          </a:solidFill>
                        </a:rPr>
                        <a:t>Deployment</a:t>
                      </a:r>
                      <a:endParaRPr sz="105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C9A7"/>
                        </a:buClr>
                        <a:buSzPts val="1050"/>
                        <a:buFont typeface="Consolas"/>
                        <a:buNone/>
                      </a:pPr>
                      <a:r>
                        <a:rPr lang="en-US" sz="1050" u="none" cap="none" strike="noStrike">
                          <a:solidFill>
                            <a:srgbClr val="00C9A7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Docker Compose</a:t>
                      </a:r>
                      <a:endParaRPr sz="1050" u="none" cap="none" strike="noStrike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4A3B8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94A3B8"/>
                          </a:solidFill>
                        </a:rPr>
                        <a:t>One command setup on any machine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1E293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  <p:sp>
        <p:nvSpPr>
          <p:cNvPr id="329" name="Google Shape;329;p9"/>
          <p:cNvSpPr/>
          <p:nvPr/>
        </p:nvSpPr>
        <p:spPr>
          <a:xfrm>
            <a:off x="365760" y="3456432"/>
            <a:ext cx="3657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Risks &amp; Mitigations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365760" y="3840480"/>
            <a:ext cx="8412480" cy="3474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9"/>
          <p:cNvSpPr/>
          <p:nvPr/>
        </p:nvSpPr>
        <p:spPr>
          <a:xfrm>
            <a:off x="502920" y="3840480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WhatsApp Baileys API breaks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3566160" y="3840480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Telegram fallback + abstracted gateway — transport is swappable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365760" y="4242816"/>
            <a:ext cx="8412480" cy="347472"/>
          </a:xfrm>
          <a:prstGeom prst="rect">
            <a:avLst/>
          </a:prstGeom>
          <a:solidFill>
            <a:srgbClr val="1E293B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502920" y="4242816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LLM API costs spiral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3566160" y="4242816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LiteLLM failover to Ollama, caching, hard token budget caps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365760" y="4645152"/>
            <a:ext cx="8412480" cy="3474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9"/>
          <p:cNvSpPr/>
          <p:nvPr/>
        </p:nvSpPr>
        <p:spPr>
          <a:xfrm>
            <a:off x="502920" y="4645152"/>
            <a:ext cx="2926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Scope creep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566160" y="464515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Strict MVP: Gateway + Memory + Heartbeat + 3 skills only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9144000" cy="59436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8229600" y="4846320"/>
            <a:ext cx="731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MVP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Minimum viable product that proves the concept — no scope creep.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347472" y="1353312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347472" y="135331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0" name="Google Shape;350;p10"/>
          <p:cNvCxnSpPr/>
          <p:nvPr/>
        </p:nvCxnSpPr>
        <p:spPr>
          <a:xfrm>
            <a:off x="521208" y="1719072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1" name="Google Shape;351;p10"/>
          <p:cNvSpPr/>
          <p:nvPr/>
        </p:nvSpPr>
        <p:spPr>
          <a:xfrm>
            <a:off x="822960" y="130759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Messaging Gateway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822960" y="157276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WhatsApp + Telegram working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347472" y="1929384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347472" y="1929384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p10"/>
          <p:cNvCxnSpPr/>
          <p:nvPr/>
        </p:nvCxnSpPr>
        <p:spPr>
          <a:xfrm>
            <a:off x="521208" y="2295144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56" name="Google Shape;356;p10"/>
          <p:cNvSpPr/>
          <p:nvPr/>
        </p:nvSpPr>
        <p:spPr>
          <a:xfrm>
            <a:off x="822960" y="18836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Agent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822960" y="214884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Any LLM — Claude, GPT, Gemini, Ollama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347472" y="2505456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347472" y="2505456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0" name="Google Shape;360;p10"/>
          <p:cNvCxnSpPr/>
          <p:nvPr/>
        </p:nvCxnSpPr>
        <p:spPr>
          <a:xfrm>
            <a:off x="521208" y="2871216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1" name="Google Shape;361;p10"/>
          <p:cNvSpPr/>
          <p:nvPr/>
        </p:nvSpPr>
        <p:spPr>
          <a:xfrm>
            <a:off x="822960" y="2459736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Persistent Memory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822960" y="2724912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Diary + semantic search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47472" y="3081528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347472" y="3081528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5" name="Google Shape;365;p10"/>
          <p:cNvCxnSpPr/>
          <p:nvPr/>
        </p:nvCxnSpPr>
        <p:spPr>
          <a:xfrm>
            <a:off x="521208" y="3447288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66" name="Google Shape;366;p10"/>
          <p:cNvSpPr/>
          <p:nvPr/>
        </p:nvSpPr>
        <p:spPr>
          <a:xfrm>
            <a:off x="822960" y="303580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Heartbeat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822960" y="3300984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Morning briefing proactive task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47472" y="3657600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347472" y="365760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0" name="Google Shape;370;p10"/>
          <p:cNvCxnSpPr/>
          <p:nvPr/>
        </p:nvCxnSpPr>
        <p:spPr>
          <a:xfrm>
            <a:off x="521208" y="4023360"/>
            <a:ext cx="0" cy="292608"/>
          </a:xfrm>
          <a:prstGeom prst="straightConnector1">
            <a:avLst/>
          </a:prstGeom>
          <a:noFill/>
          <a:ln cap="flat" cmpd="sng" w="12700">
            <a:solidFill>
              <a:srgbClr val="64748B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71" name="Google Shape;371;p10"/>
          <p:cNvSpPr/>
          <p:nvPr/>
        </p:nvSpPr>
        <p:spPr>
          <a:xfrm>
            <a:off x="822960" y="361188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3 Core Skills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822960" y="3877056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Web search, PDF summarizer, file mgr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347472" y="4233672"/>
            <a:ext cx="347472" cy="34747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347472" y="4233672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822960" y="4187952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Web Dashboard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822960" y="445312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Config editor + conversation viewer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029200" y="1261872"/>
            <a:ext cx="3749040" cy="102412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5029200" y="1298448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C9A7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00C9A7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5029200" y="19202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Gaps fixed vs OpenClaw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5029200" y="2468880"/>
            <a:ext cx="3749040" cy="102412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0"/>
          <p:cNvSpPr/>
          <p:nvPr/>
        </p:nvSpPr>
        <p:spPr>
          <a:xfrm>
            <a:off x="5029200" y="2505456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∞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5029200" y="3127248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Proactive, not reactive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5029200" y="3675888"/>
            <a:ext cx="3749040" cy="102412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50800">
              <a:srgbClr val="000000">
                <a:alpha val="2196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5029200" y="3712464"/>
            <a:ext cx="3749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4600"/>
              <a:buFont typeface="Calibri"/>
              <a:buNone/>
            </a:pPr>
            <a:r>
              <a:rPr b="1" i="0" lang="en-US" sz="46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₹0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5029200" y="4334256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Infrastructure cost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0" y="4681728"/>
            <a:ext cx="9144000" cy="461772"/>
          </a:xfrm>
          <a:prstGeom prst="rect">
            <a:avLst/>
          </a:prstGeom>
          <a:solidFill>
            <a:srgbClr val="00C9A7"/>
          </a:solidFill>
          <a:ln cap="flat" cmpd="sng" w="12700">
            <a:solidFill>
              <a:srgbClr val="00C9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365760" y="4700016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F172A"/>
                </a:solidFill>
                <a:latin typeface="Calibri"/>
                <a:ea typeface="Calibri"/>
                <a:cs typeface="Calibri"/>
                <a:sym typeface="Calibri"/>
              </a:rPr>
              <a:t>Ship this. Demo it. Iterate.  —  OpenPaw: JARVIS for students, safer and India-aware.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2026-03-14T09:53:33Z</dcterms:created>
  <dc:creator>VCET AI &amp; DS</dc:creator>
</cp:coreProperties>
</file>